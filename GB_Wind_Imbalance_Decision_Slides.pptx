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ision" id="{e284635c-267f-a7f8-0df3-4fdc748b97e1}">
          <p14:sldIdLst>
            <p14:sldId id="256"/>
          </p14:sldIdLst>
        </p14:section>
        <p14:section name="Evidence" id="{7a3f5f57-3b8c-44e8-de5c-fa8dfaf7321e}">
          <p14:sldIdLst>
            <p14:sldId id="257"/>
            <p14:sldId id="258"/>
          </p14:sldIdLst>
        </p14:section>
        <p14:section name="Money" id="{04752e37-88fa-8b76-c8f1-17185a0ccdd5}">
          <p14:sldIdLst>
            <p14:sldId id="259"/>
          </p14:sldIdLst>
        </p14:section>
        <p14:section name="Action" id="{85723def-6355-f0db-35ae-9dacf4b13fe7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2D"/>
                </a:solidFill>
                <a:latin typeface="+mn-lt"/>
              </a:rPr>
              <a:t>Mean error by forecast level (% of capacity)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error, % of capacity</c:v>
                </c:pt>
              </c:strCache>
            </c:strRef>
          </c:tx>
          <c:spPr>
            <a:solidFill>
              <a:srgbClr val="1B6B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lowest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 highest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1.43</c:v>
                </c:pt>
                <c:pt idx="1">
                  <c:v>1.09</c:v>
                </c:pt>
                <c:pt idx="2">
                  <c:v>1.42</c:v>
                </c:pt>
                <c:pt idx="3">
                  <c:v>1.83</c:v>
                </c:pt>
                <c:pt idx="4">
                  <c:v>0.42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9525" cap="flat">
              <a:solidFill>
                <a:srgbClr val="D9E2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2D"/>
                </a:solidFill>
                <a:latin typeface="+mn-lt"/>
              </a:rPr>
              <a:t>Mean error by hour of day (% of capacity)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error, % of capacity</c:v>
                </c:pt>
              </c:strCache>
            </c:strRef>
          </c:tx>
          <c:spPr>
            <a:solidFill>
              <a:srgbClr val="1B6B7A"/>
            </a:solidFill>
            <a:ln w="38100" cap="flat">
              <a:solidFill>
                <a:srgbClr val="1B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6B7A"/>
              </a:solidFill>
              <a:ln w="9525" cap="flat">
                <a:solidFill>
                  <a:srgbClr val="1B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1.24</c:v>
                </c:pt>
                <c:pt idx="1">
                  <c:v>1.05</c:v>
                </c:pt>
                <c:pt idx="2">
                  <c:v>1.03</c:v>
                </c:pt>
                <c:pt idx="3">
                  <c:v>1.02</c:v>
                </c:pt>
                <c:pt idx="4">
                  <c:v>0.83</c:v>
                </c:pt>
                <c:pt idx="5">
                  <c:v>0.01</c:v>
                </c:pt>
                <c:pt idx="6">
                  <c:v>0.65</c:v>
                </c:pt>
                <c:pt idx="7">
                  <c:v>0.73</c:v>
                </c:pt>
                <c:pt idx="8">
                  <c:v>0.4</c:v>
                </c:pt>
                <c:pt idx="9">
                  <c:v>0.3</c:v>
                </c:pt>
                <c:pt idx="10">
                  <c:v>0.48</c:v>
                </c:pt>
                <c:pt idx="11">
                  <c:v>1.15</c:v>
                </c:pt>
                <c:pt idx="12">
                  <c:v>1.56</c:v>
                </c:pt>
                <c:pt idx="13">
                  <c:v>1.76</c:v>
                </c:pt>
                <c:pt idx="14">
                  <c:v>1.82</c:v>
                </c:pt>
                <c:pt idx="15">
                  <c:v>2.1</c:v>
                </c:pt>
                <c:pt idx="16">
                  <c:v>1.88</c:v>
                </c:pt>
                <c:pt idx="17">
                  <c:v>2.17</c:v>
                </c:pt>
                <c:pt idx="18">
                  <c:v>2.04</c:v>
                </c:pt>
                <c:pt idx="19">
                  <c:v>1.94</c:v>
                </c:pt>
                <c:pt idx="20">
                  <c:v>1.48</c:v>
                </c:pt>
                <c:pt idx="21">
                  <c:v>1.39</c:v>
                </c:pt>
                <c:pt idx="22">
                  <c:v>1.17</c:v>
                </c:pt>
                <c:pt idx="23">
                  <c:v>1.15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9525" cap="flat">
              <a:solidFill>
                <a:srgbClr val="D9E2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2D"/>
                </a:solidFill>
                <a:latin typeface="+mn-lt"/>
              </a:rPr>
              <a:t>Raw: mean spread by wind shortfall (GBP/MWh)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spread, GBP/MWh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Surplus &gt;1 GW</c:v>
                  </c:pt>
                  <c:pt idx="1">
                    <c:v>Within 1 GW</c:v>
                  </c:pt>
                  <c:pt idx="2">
                    <c:v>Short 1-2 GW</c:v>
                  </c:pt>
                  <c:pt idx="3">
                    <c:v>Short &gt;2 GW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-1.1</c:v>
                </c:pt>
                <c:pt idx="1">
                  <c:v>0.97</c:v>
                </c:pt>
                <c:pt idx="2">
                  <c:v>2.27</c:v>
                </c:pt>
                <c:pt idx="3">
                  <c:v>2.26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-2"/>
        </c:scaling>
        <c:delete val="0"/>
        <c:axPos val="l"/>
        <c:majorGridlines>
          <c:spPr>
            <a:ln w="9525" cap="flat">
              <a:solidFill>
                <a:srgbClr val="D9E2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2D"/>
                </a:solidFill>
                <a:latin typeface="+mn-lt"/>
              </a:rPr>
              <a:t>Cost of selling the forecast (GBP per MWh)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GBP per MWh generated</c:v>
                </c:pt>
              </c:strCache>
            </c:strRef>
          </c:tx>
          <c:spPr>
            <a:solidFill>
              <a:srgbClr val="1B6B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 (141 days)</c:v>
                  </c:pt>
                  <c:pt idx="1">
                    <c:v>2025</c:v>
                  </c:pt>
                  <c:pt idx="2">
                    <c:v>2026 (Jan-Sep)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0.34</c:v>
                </c:pt>
                <c:pt idx="2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9525" cap="flat">
              <a:solidFill>
                <a:srgbClr val="D9E2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2D"/>
                </a:solidFill>
                <a:latin typeface="+mn-lt"/>
              </a:rPr>
              <a:t>2026 saving from selling less than the forecast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spreads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1st</c:v>
                  </c:pt>
                  <c:pt idx="1">
                    <c:v>10th</c:v>
                  </c:pt>
                  <c:pt idx="2">
                    <c:v>20th</c:v>
                  </c:pt>
                  <c:pt idx="3">
                    <c:v>30th</c:v>
                  </c:pt>
                  <c:pt idx="4">
                    <c:v>50th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</c:v>
                </c:pt>
                <c:pt idx="1">
                  <c:v>42</c:v>
                </c:pt>
                <c:pt idx="2">
                  <c:v>38</c:v>
                </c:pt>
                <c:pt idx="3">
                  <c:v>13</c:v>
                </c:pt>
                <c:pt idx="4">
                  <c:v>-17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Extremes capped</c:v>
                </c:pt>
              </c:strCache>
            </c:strRef>
          </c:tx>
          <c:spPr>
            <a:solidFill>
              <a:srgbClr val="8A9BA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1st</c:v>
                  </c:pt>
                  <c:pt idx="1">
                    <c:v>10th</c:v>
                  </c:pt>
                  <c:pt idx="2">
                    <c:v>20th</c:v>
                  </c:pt>
                  <c:pt idx="3">
                    <c:v>30th</c:v>
                  </c:pt>
                  <c:pt idx="4">
                    <c:v>50th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-34</c:v>
                </c:pt>
                <c:pt idx="1">
                  <c:v>-10</c:v>
                </c:pt>
                <c:pt idx="2">
                  <c:v>8</c:v>
                </c:pt>
                <c:pt idx="3">
                  <c:v>1</c:v>
                </c:pt>
                <c:pt idx="4">
                  <c:v>-2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A6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5A60"/>
                    </a:solidFill>
                    <a:latin typeface="+mn-lt"/>
                  </a:rPr>
                  <a:t>Quantile of past error sold below forecast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-50"/>
        </c:scaling>
        <c:delete val="0"/>
        <c:axPos val="l"/>
        <c:majorGridlines>
          <c:spPr>
            <a:ln w="9525" cap="flat">
              <a:solidFill>
                <a:srgbClr val="D9E2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A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answer. We asked whether wind coming in below its day-ahead forecast pushes the imbalance price above the day-ahead price, and what that costs a wind owner. Three numbers: our 80% intervals held up on 2026 (84%); the price slope per GW of shortfall is statistically zero (-£0.33, interval -£1.4 to +£0.6); and forecast error cost a hypothetical 1 GW portfolio £265k in Jan-Sep 2026, 0.12% of revenue. Ask for the three decisions at the end of the discussion, not now. Caveat to state early: public-data associations, hypothetical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worry was that the day-ahead forecast over-forecasts when wind is high. It does not: the top quintile averages +0.4% of capacity with an interval that includes zero. Bias is small everywhere (+1.2% overall) and a little higher in afternoons. On forecast ranges, the 80% intervals we fit on 2024-25 contained 84% of 2026 half-hours at an average width of about 4.4 GW (18% of capacity). Autumn is the weak spot at 66%, but that is September 2026 only. Earlier in the project we saw a false 14% over-forecast because we had used metered wind as 'actual'; total wind removes it. Likely question: how wide is the band for one GW? Roughly -70 to +120 MW per GW for the middle 80%.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chart is what people expect to see: spreads rise from about -£1 when wind beats forecast to about +£2 when it misses. The right side is why we do not believe that is a wind effect. With controls for demand, MID, hour and month the slope is -£0.33 per GW and the interval comfortably includes zero, in the bootstrap (resampling whole days) and with HAC errors. It is -0.21 on 2024-25 and +0.11 on 2026. Big shortfalls do not raise spike risk (2.4% vs 2.3%). If we cap the most extreme 1% of spreads a small positive slope (+£0.42) appears, but not in 2026. Exploratory splits suggest any effect lives in summer (+£1.14) and low-demand periods; 12 splits, no correction, so a lead only. We say 'moved with', not 'caused'.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per MWh generated for selling the forecast: £0.22 in 2024 (only 141 usable days), £0.34 in 2025, £0.11 in 2026. In pounds, £265k for Jan-Sep 2026 on a 1 GW portfolio, 0.12% of MID-valued revenue. Errors partly cancel: in 2025 the portfolio lost £5.5m in bad half-hours and gained £4.3m in good ones. The tail is the exposure: 8 Jan 2025 alone cost £263k. The right chart tests selling less than the forecast. The 1st-percentile version looks like a 119% saving in 2026, but that is a bet on system price staying above MID while being long in 99% of periods. Cap extreme spreads and it is -34%; no quantile gives a saving that holds up. The £0.36-1.24m ceiling is the cost of selling the forecast in 2026 (annualised) and 2025: even a perfect forecast could not save more than that per GW-year.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asks. 1) Keep selling the forecast, no shading. 2) Hold credit for a bad day, about £0.3m per GW. 3) Approve the data-gap study: gas price, net imbalance volume, outages, demand forecast error, total wind for April-November 2024, and the real portfolio's own errors. The right panel is what would change our minds: an interval excluding zero, a pricing rule change, battery growth, or a third forecast that disagrees. Be upfront about limits: no gas price, hypothetical portfolio, a source data fault that removed 229 days of 2024, no intraday or balancing actions. The thresholds here are suggestions, not tested rules. Sources: Elexon Insights (WINDFOR, AGWS, system prices, MID, demand outturn) and the NESO Data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wind forecast error and imbalance prices  | 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wind forecast error and imbalance prices  | 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error costs little and does not move prices, so keep selling the forecast</a:t>
            </a:r>
            <a:endParaRPr lang="en-US" sz="3200" dirty="0"/>
          </a:p>
        </p:txBody>
      </p:sp>
      <p:sp>
        <p:nvSpPr>
          <p:cNvPr id="3" name="card 0"/>
          <p:cNvSpPr/>
          <p:nvPr/>
        </p:nvSpPr>
        <p:spPr>
          <a:xfrm>
            <a:off x="548640" y="16916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34B5A"/>
          </a:solidFill>
          <a:ln w="12700">
            <a:solidFill>
              <a:srgbClr val="134B5A"/>
            </a:solidFill>
            <a:prstDash val="solid"/>
          </a:ln>
        </p:spPr>
      </p:sp>
      <p:sp>
        <p:nvSpPr>
          <p:cNvPr id="4" name="card number 0"/>
          <p:cNvSpPr txBox="1"/>
          <p:nvPr/>
        </p:nvSpPr>
        <p:spPr>
          <a:xfrm>
            <a:off x="82296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4800" dirty="0"/>
          </a:p>
        </p:txBody>
      </p:sp>
      <p:sp>
        <p:nvSpPr>
          <p:cNvPr id="5" name="card label 0"/>
          <p:cNvSpPr txBox="1"/>
          <p:nvPr/>
        </p:nvSpPr>
        <p:spPr>
          <a:xfrm>
            <a:off x="822960" y="2743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2026 half-hours landed inside our 80% forecast interval (95% interval: 94%)</a:t>
            </a:r>
            <a:endParaRPr lang="en-US" sz="1500" dirty="0"/>
          </a:p>
        </p:txBody>
      </p:sp>
      <p:sp>
        <p:nvSpPr>
          <p:cNvPr id="6" name="card 1"/>
          <p:cNvSpPr/>
          <p:nvPr/>
        </p:nvSpPr>
        <p:spPr>
          <a:xfrm>
            <a:off x="4297680" y="16916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34B5A"/>
          </a:solidFill>
          <a:ln w="12700">
            <a:solidFill>
              <a:srgbClr val="134B5A"/>
            </a:solidFill>
            <a:prstDash val="solid"/>
          </a:ln>
        </p:spPr>
      </p:sp>
      <p:sp>
        <p:nvSpPr>
          <p:cNvPr id="7" name="card number 1"/>
          <p:cNvSpPr txBox="1"/>
          <p:nvPr/>
        </p:nvSpPr>
        <p:spPr>
          <a:xfrm>
            <a:off x="457200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-£0.33</a:t>
            </a:r>
            <a:endParaRPr lang="en-US" sz="4800" dirty="0"/>
          </a:p>
        </p:txBody>
      </p:sp>
      <p:sp>
        <p:nvSpPr>
          <p:cNvPr id="8" name="card label 1"/>
          <p:cNvSpPr txBox="1"/>
          <p:nvPr/>
        </p:nvSpPr>
        <p:spPr>
          <a:xfrm>
            <a:off x="4572000" y="2743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MWh for each GW of wind shortfall; 95% CI -£1.4 to +£0.6, so no detectable price effect</a:t>
            </a:r>
            <a:endParaRPr lang="en-US" sz="1500" dirty="0"/>
          </a:p>
        </p:txBody>
      </p:sp>
      <p:sp>
        <p:nvSpPr>
          <p:cNvPr id="9" name="card 2"/>
          <p:cNvSpPr/>
          <p:nvPr/>
        </p:nvSpPr>
        <p:spPr>
          <a:xfrm>
            <a:off x="8046720" y="16916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34B5A"/>
          </a:solidFill>
          <a:ln w="12700">
            <a:solidFill>
              <a:srgbClr val="134B5A"/>
            </a:solidFill>
            <a:prstDash val="solid"/>
          </a:ln>
        </p:spPr>
      </p:sp>
      <p:sp>
        <p:nvSpPr>
          <p:cNvPr id="10" name="card number 2"/>
          <p:cNvSpPr txBox="1"/>
          <p:nvPr/>
        </p:nvSpPr>
        <p:spPr>
          <a:xfrm>
            <a:off x="832104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£265k</a:t>
            </a:r>
            <a:endParaRPr lang="en-US" sz="4800" dirty="0"/>
          </a:p>
        </p:txBody>
      </p:sp>
      <p:sp>
        <p:nvSpPr>
          <p:cNvPr id="11" name="card label 2"/>
          <p:cNvSpPr txBox="1"/>
          <p:nvPr/>
        </p:nvSpPr>
        <p:spPr>
          <a:xfrm>
            <a:off x="8321040" y="2743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cost for a 1 GW portfolio, Jan-Sep 2026: 0.12% of its revenue</a:t>
            </a:r>
            <a:endParaRPr lang="en-US" sz="1500" dirty="0"/>
          </a:p>
        </p:txBody>
      </p:sp>
      <p:sp>
        <p:nvSpPr>
          <p:cNvPr id="12" name="decisions heading"/>
          <p:cNvSpPr txBox="1"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we need today</a:t>
            </a:r>
            <a:endParaRPr lang="en-US" sz="2000" dirty="0"/>
          </a:p>
        </p:txBody>
      </p:sp>
      <p:sp>
        <p:nvSpPr>
          <p:cNvPr id="13" name="num 1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num text 1"/>
          <p:cNvSpPr txBox="1"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decision 1"/>
          <p:cNvSpPr txBox="1"/>
          <p:nvPr/>
        </p:nvSpPr>
        <p:spPr>
          <a:xfrm>
            <a:off x="1097280" y="47365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selling the forecast. Do not shade volumes below it.</a:t>
            </a:r>
            <a:endParaRPr lang="en-US" sz="1700" dirty="0"/>
          </a:p>
        </p:txBody>
      </p:sp>
      <p:sp>
        <p:nvSpPr>
          <p:cNvPr id="16" name="num 2"/>
          <p:cNvSpPr/>
          <p:nvPr/>
        </p:nvSpPr>
        <p:spPr>
          <a:xfrm>
            <a:off x="548640" y="5285232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num text 2"/>
          <p:cNvSpPr txBox="1"/>
          <p:nvPr/>
        </p:nvSpPr>
        <p:spPr>
          <a:xfrm>
            <a:off x="54864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decision 2"/>
          <p:cNvSpPr txBox="1"/>
          <p:nvPr/>
        </p:nvSpPr>
        <p:spPr>
          <a:xfrm>
            <a:off x="1097280" y="526694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credit for a bad day: about £0.3m per GW.</a:t>
            </a:r>
            <a:endParaRPr lang="en-US" sz="1700" dirty="0"/>
          </a:p>
        </p:txBody>
      </p:sp>
      <p:sp>
        <p:nvSpPr>
          <p:cNvPr id="19" name="num 3"/>
          <p:cNvSpPr/>
          <p:nvPr/>
        </p:nvSpPr>
        <p:spPr>
          <a:xfrm>
            <a:off x="548640" y="5815584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0" name="num text 3"/>
          <p:cNvSpPr txBox="1"/>
          <p:nvPr/>
        </p:nvSpPr>
        <p:spPr>
          <a:xfrm>
            <a:off x="548640" y="5815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decision 3"/>
          <p:cNvSpPr txBox="1"/>
          <p:nvPr/>
        </p:nvSpPr>
        <p:spPr>
          <a:xfrm>
            <a:off x="1097280" y="5797296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data-gap study (gas, imbalance volume, outages, 2024 wind) before any pricing change.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 is close to unbiased, even when wind is high</a:t>
            </a:r>
            <a:endParaRPr lang="en-US" sz="3000" dirty="0"/>
          </a:p>
        </p:txBody>
      </p:sp>
      <p:graphicFrame>
        <p:nvGraphicFramePr>
          <p:cNvPr id="3" name="chart quintiles" descr=""/>
          <p:cNvGraphicFramePr/>
          <p:nvPr/>
        </p:nvGraphicFramePr>
        <p:xfrm>
          <a:off x="548640" y="141732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hours" descr=""/>
          <p:cNvGraphicFramePr/>
          <p:nvPr/>
        </p:nvGraphicFramePr>
        <p:xfrm>
          <a:off x="6263640" y="141732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tat +1.2%"/>
          <p:cNvSpPr txBox="1"/>
          <p:nvPr/>
        </p:nvSpPr>
        <p:spPr>
          <a:xfrm>
            <a:off x="548640" y="4846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+1.2%</a:t>
            </a:r>
            <a:endParaRPr lang="en-US" sz="3200" dirty="0"/>
          </a:p>
        </p:txBody>
      </p:sp>
      <p:sp>
        <p:nvSpPr>
          <p:cNvPr id="6" name="label +1.2%"/>
          <p:cNvSpPr txBox="1"/>
          <p:nvPr/>
        </p:nvSpPr>
        <p:spPr>
          <a:xfrm>
            <a:off x="548640" y="5486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error: wind averaged 273 MW above forecast</a:t>
            </a:r>
            <a:endParaRPr lang="en-US" sz="1400" dirty="0"/>
          </a:p>
        </p:txBody>
      </p:sp>
      <p:sp>
        <p:nvSpPr>
          <p:cNvPr id="7" name="stat 6.1% | 9.1%"/>
          <p:cNvSpPr txBox="1"/>
          <p:nvPr/>
        </p:nvSpPr>
        <p:spPr>
          <a:xfrm>
            <a:off x="4297680" y="4846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6.1% | 9.1%</a:t>
            </a:r>
            <a:endParaRPr lang="en-US" sz="3200" dirty="0"/>
          </a:p>
        </p:txBody>
      </p:sp>
      <p:sp>
        <p:nvSpPr>
          <p:cNvPr id="8" name="label 6.1% | 9.1%"/>
          <p:cNvSpPr txBox="1"/>
          <p:nvPr/>
        </p:nvSpPr>
        <p:spPr>
          <a:xfrm>
            <a:off x="4297680" y="5486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| RMS error, as % of capacity</a:t>
            </a:r>
            <a:endParaRPr lang="en-US" sz="1400" dirty="0"/>
          </a:p>
        </p:txBody>
      </p:sp>
      <p:sp>
        <p:nvSpPr>
          <p:cNvPr id="9" name="stat 84% | 94%"/>
          <p:cNvSpPr txBox="1"/>
          <p:nvPr/>
        </p:nvSpPr>
        <p:spPr>
          <a:xfrm>
            <a:off x="8046720" y="4846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 | 94%</a:t>
            </a:r>
            <a:endParaRPr lang="en-US" sz="3200" dirty="0"/>
          </a:p>
        </p:txBody>
      </p:sp>
      <p:sp>
        <p:nvSpPr>
          <p:cNvPr id="10" name="label 84% | 94%"/>
          <p:cNvSpPr txBox="1"/>
          <p:nvPr/>
        </p:nvSpPr>
        <p:spPr>
          <a:xfrm>
            <a:off x="8046720" y="5486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2026 half-hours inside 80% | 95% intervals; autumn only 66%</a:t>
            </a:r>
            <a:endParaRPr lang="en-US" sz="1400" dirty="0"/>
          </a:p>
        </p:txBody>
      </p:sp>
      <p:sp>
        <p:nvSpPr>
          <p:cNvPr id="11" name="caption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wind above forecast. Intervals fitted on 2024-25 and tested on 2026; autumn is September 2026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shortfall does not detectably move imbalance prices</a:t>
            </a:r>
            <a:endParaRPr lang="en-US" sz="3000" dirty="0"/>
          </a:p>
        </p:txBody>
      </p:sp>
      <p:graphicFrame>
        <p:nvGraphicFramePr>
          <p:cNvPr id="3" name="chart spread" descr=""/>
          <p:cNvGraphicFramePr/>
          <p:nvPr/>
        </p:nvGraphicFramePr>
        <p:xfrm>
          <a:off x="548640" y="14173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ct 0"/>
          <p:cNvSpPr txBox="1"/>
          <p:nvPr/>
        </p:nvSpPr>
        <p:spPr>
          <a:xfrm>
            <a:off x="6355080" y="1417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-£0.33</a:t>
            </a:r>
            <a:endParaRPr lang="en-US" sz="3400" dirty="0"/>
          </a:p>
        </p:txBody>
      </p:sp>
      <p:sp>
        <p:nvSpPr>
          <p:cNvPr id="5" name="fact text 0"/>
          <p:cNvSpPr txBox="1"/>
          <p:nvPr/>
        </p:nvSpPr>
        <p:spPr>
          <a:xfrm>
            <a:off x="8778240" y="1417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slope per GW of shortfall (95% CI -£1.4 to +£0.6), after controlling for demand, MID, hour and month</a:t>
            </a:r>
            <a:endParaRPr lang="en-US" sz="1400" dirty="0"/>
          </a:p>
        </p:txBody>
      </p:sp>
      <p:sp>
        <p:nvSpPr>
          <p:cNvPr id="6" name="fact 1"/>
          <p:cNvSpPr txBox="1"/>
          <p:nvPr/>
        </p:nvSpPr>
        <p:spPr>
          <a:xfrm>
            <a:off x="6355080" y="249631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+0.11</a:t>
            </a:r>
            <a:endParaRPr lang="en-US" sz="3400" dirty="0"/>
          </a:p>
        </p:txBody>
      </p:sp>
      <p:sp>
        <p:nvSpPr>
          <p:cNvPr id="7" name="fact text 1"/>
          <p:cNvSpPr txBox="1"/>
          <p:nvPr/>
        </p:nvSpPr>
        <p:spPr>
          <a:xfrm>
            <a:off x="8778240" y="2496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on 2026 alone (2024-25: -0.21); adding shortfall does not improve out-of-sample prediction</a:t>
            </a:r>
            <a:endParaRPr lang="en-US" sz="1400" dirty="0"/>
          </a:p>
        </p:txBody>
      </p:sp>
      <p:sp>
        <p:nvSpPr>
          <p:cNvPr id="8" name="fact 2"/>
          <p:cNvSpPr txBox="1"/>
          <p:nvPr/>
        </p:nvSpPr>
        <p:spPr>
          <a:xfrm>
            <a:off x="6355080" y="357530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2.4% vs 2.3%</a:t>
            </a:r>
            <a:endParaRPr lang="en-US" sz="2600" dirty="0"/>
          </a:p>
        </p:txBody>
      </p:sp>
      <p:sp>
        <p:nvSpPr>
          <p:cNvPr id="9" name="fact text 2"/>
          <p:cNvSpPr txBox="1"/>
          <p:nvPr/>
        </p:nvSpPr>
        <p:spPr>
          <a:xfrm>
            <a:off x="8778240" y="357530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half-hours with a spread above £50: after a &gt;2 GW shortfall vs all periods</a:t>
            </a:r>
            <a:endParaRPr lang="en-US" sz="1400" dirty="0"/>
          </a:p>
        </p:txBody>
      </p:sp>
      <p:sp>
        <p:nvSpPr>
          <p:cNvPr id="10" name="fact 3"/>
          <p:cNvSpPr txBox="1"/>
          <p:nvPr/>
        </p:nvSpPr>
        <p:spPr>
          <a:xfrm>
            <a:off x="6355080" y="465429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+£0.42</a:t>
            </a:r>
            <a:endParaRPr lang="en-US" sz="3400" dirty="0"/>
          </a:p>
        </p:txBody>
      </p:sp>
      <p:sp>
        <p:nvSpPr>
          <p:cNvPr id="11" name="fact text 3"/>
          <p:cNvSpPr txBox="1"/>
          <p:nvPr/>
        </p:nvSpPr>
        <p:spPr>
          <a:xfrm>
            <a:off x="8778240" y="465429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if the most extreme 1% of spreads are capped; not significant in 2026</a:t>
            </a:r>
            <a:endParaRPr lang="en-US" sz="1400" dirty="0"/>
          </a:p>
        </p:txBody>
      </p:sp>
      <p:sp>
        <p:nvSpPr>
          <p:cNvPr id="12" name="takeaway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rise looks like a wind effect but is not once controls are added. Association only: demand errors and outages also move with wind.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error costs little on average; the exposure is one bad day</a:t>
            </a:r>
            <a:endParaRPr lang="en-US" sz="3000" dirty="0"/>
          </a:p>
        </p:txBody>
      </p:sp>
      <p:graphicFrame>
        <p:nvGraphicFramePr>
          <p:cNvPr id="3" name="chart cost" descr=""/>
          <p:cNvGraphicFramePr/>
          <p:nvPr/>
        </p:nvGraphicFramePr>
        <p:xfrm>
          <a:off x="548640" y="141732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shading" descr=""/>
          <p:cNvGraphicFramePr/>
          <p:nvPr/>
        </p:nvGraphicFramePr>
        <p:xfrm>
          <a:off x="5577840" y="141732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tat £265k"/>
          <p:cNvSpPr txBox="1"/>
          <p:nvPr/>
        </p:nvSpPr>
        <p:spPr>
          <a:xfrm>
            <a:off x="548640" y="4709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£265k</a:t>
            </a:r>
            <a:endParaRPr lang="en-US" sz="3400" dirty="0"/>
          </a:p>
        </p:txBody>
      </p:sp>
      <p:sp>
        <p:nvSpPr>
          <p:cNvPr id="6" name="label £265k"/>
          <p:cNvSpPr txBox="1"/>
          <p:nvPr/>
        </p:nvSpPr>
        <p:spPr>
          <a:xfrm>
            <a:off x="548640" y="5349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cost (Jan-Sep): 0.12% of revenue, 0.47% in 2025</a:t>
            </a:r>
            <a:endParaRPr lang="en-US" sz="1400" dirty="0"/>
          </a:p>
        </p:txBody>
      </p:sp>
      <p:sp>
        <p:nvSpPr>
          <p:cNvPr id="7" name="stat £263k"/>
          <p:cNvSpPr txBox="1"/>
          <p:nvPr/>
        </p:nvSpPr>
        <p:spPr>
          <a:xfrm>
            <a:off x="4297680" y="4709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£263k</a:t>
            </a:r>
            <a:endParaRPr lang="en-US" sz="3400" dirty="0"/>
          </a:p>
        </p:txBody>
      </p:sp>
      <p:sp>
        <p:nvSpPr>
          <p:cNvPr id="8" name="label £263k"/>
          <p:cNvSpPr txBox="1"/>
          <p:nvPr/>
        </p:nvSpPr>
        <p:spPr>
          <a:xfrm>
            <a:off x="4297680" y="5349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day, 8 Jan 2025: 21% of that year's cost</a:t>
            </a:r>
            <a:endParaRPr lang="en-US" sz="1400" dirty="0"/>
          </a:p>
        </p:txBody>
      </p:sp>
      <p:sp>
        <p:nvSpPr>
          <p:cNvPr id="9" name="stat £0.36-1.24m"/>
          <p:cNvSpPr txBox="1"/>
          <p:nvPr/>
        </p:nvSpPr>
        <p:spPr>
          <a:xfrm>
            <a:off x="8046720" y="4709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£0.36-1.24m</a:t>
            </a:r>
            <a:endParaRPr lang="en-US" sz="2800" dirty="0"/>
          </a:p>
        </p:txBody>
      </p:sp>
      <p:sp>
        <p:nvSpPr>
          <p:cNvPr id="10" name="label £0.36-1.24m"/>
          <p:cNvSpPr txBox="1"/>
          <p:nvPr/>
        </p:nvSpPr>
        <p:spPr>
          <a:xfrm>
            <a:off x="8046720" y="5349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per GW-year on what a perfect forecast could save</a:t>
            </a:r>
            <a:endParaRPr lang="en-US" sz="1400" dirty="0"/>
          </a:p>
        </p:txBody>
      </p:sp>
      <p:sp>
        <p:nvSpPr>
          <p:cNvPr id="11" name="caption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1 GW portfolio with the national error profile, so real costs will be higher. Selling less only 'saves' by being long when system price runs above MID; it fails once extremes are capped.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recommend, and what would change our minds</a:t>
            </a:r>
            <a:endParaRPr lang="en-US" sz="3000" dirty="0"/>
          </a:p>
        </p:txBody>
      </p:sp>
      <p:sp>
        <p:nvSpPr>
          <p:cNvPr id="3" name="actions heading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2000" dirty="0"/>
          </a:p>
        </p:txBody>
      </p:sp>
      <p:sp>
        <p:nvSpPr>
          <p:cNvPr id="4" name="rec num 1"/>
          <p:cNvSpPr/>
          <p:nvPr/>
        </p:nvSpPr>
        <p:spPr>
          <a:xfrm>
            <a:off x="548640" y="1911096"/>
            <a:ext cx="402336" cy="402336"/>
          </a:xfrm>
          <a:prstGeom prst="ellipse">
            <a:avLst/>
          </a:prstGeom>
          <a:solidFill>
            <a:srgbClr val="1B6B7A"/>
          </a:solidFill>
          <a:ln w="12700">
            <a:solidFill>
              <a:srgbClr val="1B6B7A"/>
            </a:solidFill>
            <a:prstDash val="solid"/>
          </a:ln>
        </p:spPr>
      </p:sp>
      <p:sp>
        <p:nvSpPr>
          <p:cNvPr id="5" name="rec num text 1"/>
          <p:cNvSpPr txBox="1"/>
          <p:nvPr/>
        </p:nvSpPr>
        <p:spPr>
          <a:xfrm>
            <a:off x="548640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rec 1"/>
          <p:cNvSpPr txBox="1"/>
          <p:nvPr/>
        </p:nvSpPr>
        <p:spPr>
          <a:xfrm>
            <a:off x="1143000" y="18745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selling the forecast; do not shade below it.</a:t>
            </a:r>
            <a:endParaRPr lang="en-US" sz="1500" dirty="0"/>
          </a:p>
        </p:txBody>
      </p:sp>
      <p:sp>
        <p:nvSpPr>
          <p:cNvPr id="7" name="rec num 2"/>
          <p:cNvSpPr/>
          <p:nvPr/>
        </p:nvSpPr>
        <p:spPr>
          <a:xfrm>
            <a:off x="548640" y="2624328"/>
            <a:ext cx="402336" cy="402336"/>
          </a:xfrm>
          <a:prstGeom prst="ellipse">
            <a:avLst/>
          </a:prstGeom>
          <a:solidFill>
            <a:srgbClr val="1B6B7A"/>
          </a:solidFill>
          <a:ln w="12700">
            <a:solidFill>
              <a:srgbClr val="1B6B7A"/>
            </a:solidFill>
            <a:prstDash val="solid"/>
          </a:ln>
        </p:spPr>
      </p:sp>
      <p:sp>
        <p:nvSpPr>
          <p:cNvPr id="8" name="rec num text 2"/>
          <p:cNvSpPr txBox="1"/>
          <p:nvPr/>
        </p:nvSpPr>
        <p:spPr>
          <a:xfrm>
            <a:off x="54864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rec 2"/>
          <p:cNvSpPr txBox="1"/>
          <p:nvPr/>
        </p:nvSpPr>
        <p:spPr>
          <a:xfrm>
            <a:off x="1143000" y="258775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credit for a bad day (about £0.3m per GW). Normal range: -70 to +120 MW per GW.</a:t>
            </a:r>
            <a:endParaRPr lang="en-US" sz="1500" dirty="0"/>
          </a:p>
        </p:txBody>
      </p:sp>
      <p:sp>
        <p:nvSpPr>
          <p:cNvPr id="10" name="rec num 3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rgbClr val="1B6B7A"/>
          </a:solidFill>
          <a:ln w="12700">
            <a:solidFill>
              <a:srgbClr val="1B6B7A"/>
            </a:solidFill>
            <a:prstDash val="solid"/>
          </a:ln>
        </p:spPr>
      </p:sp>
      <p:sp>
        <p:nvSpPr>
          <p:cNvPr id="11" name="rec num text 3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rec 3"/>
          <p:cNvSpPr txBox="1"/>
          <p:nvPr/>
        </p:nvSpPr>
        <p:spPr>
          <a:xfrm>
            <a:off x="1143000" y="330098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forecast-improvement spend well below the £0.36-1.24m per GW-year ceiling.</a:t>
            </a:r>
            <a:endParaRPr lang="en-US" sz="1500" dirty="0"/>
          </a:p>
        </p:txBody>
      </p:sp>
      <p:sp>
        <p:nvSpPr>
          <p:cNvPr id="13" name="rec num 4"/>
          <p:cNvSpPr/>
          <p:nvPr/>
        </p:nvSpPr>
        <p:spPr>
          <a:xfrm>
            <a:off x="548640" y="4050792"/>
            <a:ext cx="402336" cy="402336"/>
          </a:xfrm>
          <a:prstGeom prst="ellipse">
            <a:avLst/>
          </a:prstGeom>
          <a:solidFill>
            <a:srgbClr val="1B6B7A"/>
          </a:solidFill>
          <a:ln w="12700">
            <a:solidFill>
              <a:srgbClr val="1B6B7A"/>
            </a:solidFill>
            <a:prstDash val="solid"/>
          </a:ln>
        </p:spPr>
      </p:sp>
      <p:sp>
        <p:nvSpPr>
          <p:cNvPr id="14" name="rec num text 4"/>
          <p:cNvSpPr txBox="1"/>
          <p:nvPr/>
        </p:nvSpPr>
        <p:spPr>
          <a:xfrm>
            <a:off x="54864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rec 4"/>
          <p:cNvSpPr txBox="1"/>
          <p:nvPr/>
        </p:nvSpPr>
        <p:spPr>
          <a:xfrm>
            <a:off x="1143000" y="40142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80% intervals, but assume about 66% coverage in autumn.</a:t>
            </a:r>
            <a:endParaRPr lang="en-US" sz="1500" dirty="0"/>
          </a:p>
        </p:txBody>
      </p:sp>
      <p:sp>
        <p:nvSpPr>
          <p:cNvPr id="16" name="rec num 5"/>
          <p:cNvSpPr/>
          <p:nvPr/>
        </p:nvSpPr>
        <p:spPr>
          <a:xfrm>
            <a:off x="548640" y="4764024"/>
            <a:ext cx="402336" cy="402336"/>
          </a:xfrm>
          <a:prstGeom prst="ellipse">
            <a:avLst/>
          </a:prstGeom>
          <a:solidFill>
            <a:srgbClr val="1B6B7A"/>
          </a:solidFill>
          <a:ln w="12700">
            <a:solidFill>
              <a:srgbClr val="1B6B7A"/>
            </a:solidFill>
            <a:prstDash val="solid"/>
          </a:ln>
        </p:spPr>
      </p:sp>
      <p:sp>
        <p:nvSpPr>
          <p:cNvPr id="17" name="rec num text 5"/>
          <p:cNvSpPr txBox="1"/>
          <p:nvPr/>
        </p:nvSpPr>
        <p:spPr>
          <a:xfrm>
            <a:off x="548640" y="4764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rec 5"/>
          <p:cNvSpPr txBox="1"/>
          <p:nvPr/>
        </p:nvSpPr>
        <p:spPr>
          <a:xfrm>
            <a:off x="1143000" y="47274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data gaps first: gas, imbalance volume, outages, 2024 wind, real portfolio errors.</a:t>
            </a:r>
            <a:endParaRPr lang="en-US" sz="1500" dirty="0"/>
          </a:p>
        </p:txBody>
      </p:sp>
      <p:sp>
        <p:nvSpPr>
          <p:cNvPr id="19" name="revisit panel"/>
          <p:cNvSpPr/>
          <p:nvPr/>
        </p:nvSpPr>
        <p:spPr>
          <a:xfrm>
            <a:off x="7315200" y="1371600"/>
            <a:ext cx="4343400" cy="3886200"/>
          </a:xfrm>
          <a:prstGeom prst="roundRect">
            <a:avLst>
              <a:gd name="adj" fmla="val 2353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20" name="revisit heading"/>
          <p:cNvSpPr txBox="1"/>
          <p:nvPr/>
        </p:nvSpPr>
        <p:spPr>
          <a:xfrm>
            <a:off x="758952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would revisit if</a:t>
            </a:r>
            <a:endParaRPr lang="en-US" sz="2000" dirty="0"/>
          </a:p>
        </p:txBody>
      </p:sp>
      <p:sp>
        <p:nvSpPr>
          <p:cNvPr id="21" name="revisit list"/>
          <p:cNvSpPr txBox="1"/>
          <p:nvPr/>
        </p:nvSpPr>
        <p:spPr>
          <a:xfrm>
            <a:off x="7589520" y="196596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adjusted slope interval excludes zero (watch summer, low demand)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pricing rules change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build-out changes spreads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forecast disagrees with ours (NESO file: +3.6% bias)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three-month interval coverage leaves the 75-90% range</a:t>
            </a:r>
            <a:endParaRPr lang="en-US" sz="1500" dirty="0"/>
          </a:p>
        </p:txBody>
      </p:sp>
      <p:sp>
        <p:nvSpPr>
          <p:cNvPr id="22" name="limits heading"/>
          <p:cNvSpPr txBox="1"/>
          <p:nvPr/>
        </p:nvSpPr>
        <p:spPr>
          <a:xfrm>
            <a:off x="5486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400" dirty="0"/>
          </a:p>
        </p:txBody>
      </p:sp>
      <p:sp>
        <p:nvSpPr>
          <p:cNvPr id="23" name="limits text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gas price. Hypothetical 1 GW portfolio with the national error profile. 229 days of 2024 dropped for faulty source data. No intraday trading or balancing actions. Associations, not causal effects. Re-run each quarter. Sources: Elexon Insights, NESO Data Portal.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B Wind">
  <a:themeElements>
    <a:clrScheme name="GB Wind">
      <a:dk1>
        <a:srgbClr val="12262D"/>
      </a:dk1>
      <a:lt1>
        <a:srgbClr val="FFFFFF"/>
      </a:lt1>
      <a:dk2>
        <a:srgbClr val="0B3C49"/>
      </a:dk2>
      <a:lt2>
        <a:srgbClr val="EAF2F3"/>
      </a:lt2>
      <a:accent1>
        <a:srgbClr val="1B6B7A"/>
      </a:accent1>
      <a:accent2>
        <a:srgbClr val="E07A1F"/>
      </a:accent2>
      <a:accent3>
        <a:srgbClr val="8A9BA0"/>
      </a:accent3>
      <a:accent4>
        <a:srgbClr val="5BA3B0"/>
      </a:accent4>
      <a:accent5>
        <a:srgbClr val="B5451B"/>
      </a:accent5>
      <a:accent6>
        <a:srgbClr val="2F4858"/>
      </a:accent6>
      <a:hlink>
        <a:srgbClr val="1B6B7A"/>
      </a:hlink>
      <a:folHlink>
        <a:srgbClr val="8A9BA0"/>
      </a:folHlink>
    </a:clrScheme>
    <a:fontScheme name="GB W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 wind forecast error and imbalance prices: findings and decisions</dc:title>
  <dc:subject>PptxGenJS Presentation</dc:subject>
  <dc:creator>PptxGenJS</dc:creator>
  <cp:lastModifiedBy>PptxGenJS</cp:lastModifiedBy>
  <cp:revision>1</cp:revision>
  <dcterms:created xsi:type="dcterms:W3CDTF">2026-10-09T08:10:11Z</dcterms:created>
  <dcterms:modified xsi:type="dcterms:W3CDTF">2026-10-09T08:10:11Z</dcterms:modified>
</cp:coreProperties>
</file>